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0F4C9E"/>
          </a:solidFill>
          <a:ln w="12700">
            <a:solidFill>
              <a:srgbClr val="0F4C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3774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WALKTHROUGH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4290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669280" y="292608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Walkthrough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669280" y="361188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 and security, enforced from the IDE to the merge gate.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69280" y="4389120"/>
            <a:ext cx="548640" cy="45720"/>
          </a:xfrm>
          <a:prstGeom prst="rect">
            <a:avLst/>
          </a:prstGeom>
          <a:solidFill>
            <a:srgbClr val="0F4C9E"/>
          </a:solidFill>
          <a:ln w="12700">
            <a:solidFill>
              <a:srgbClr val="0F4C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452628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Subash Krishnan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4C9E"/>
          </a:solidFill>
          <a:ln w="12700">
            <a:solidFill>
              <a:srgbClr val="0F4C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24992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0" b="1" dirty="0">
                <a:solidFill>
                  <a:srgbClr val="0F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2499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249928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SonarQube is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points of enforcement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22244" y="2011680"/>
            <a:ext cx="24992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0" b="1" dirty="0">
                <a:solidFill>
                  <a:srgbClr val="0F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400" dirty="0"/>
          </a:p>
        </p:txBody>
      </p:sp>
      <p:sp>
        <p:nvSpPr>
          <p:cNvPr id="8" name="Text 6"/>
          <p:cNvSpPr/>
          <p:nvPr/>
        </p:nvSpPr>
        <p:spPr>
          <a:xfrm>
            <a:off x="3322244" y="3246120"/>
            <a:ext cx="2499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322244" y="3794760"/>
            <a:ext cx="249928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ratings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Pull-request gate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review experience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shift-left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5848" y="2011680"/>
            <a:ext cx="24992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0" b="1" dirty="0">
                <a:solidFill>
                  <a:srgbClr val="0F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400" dirty="0"/>
          </a:p>
        </p:txBody>
      </p:sp>
      <p:sp>
        <p:nvSpPr>
          <p:cNvPr id="11" name="Text 9"/>
          <p:cNvSpPr/>
          <p:nvPr/>
        </p:nvSpPr>
        <p:spPr>
          <a:xfrm>
            <a:off x="6095848" y="3246120"/>
            <a:ext cx="2499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095848" y="3794760"/>
            <a:ext cx="249928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Profiles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catalog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Clean-as-You-Code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869451" y="2011680"/>
            <a:ext cx="24992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0" b="1" dirty="0">
                <a:solidFill>
                  <a:srgbClr val="0F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400" dirty="0"/>
          </a:p>
        </p:txBody>
      </p:sp>
      <p:sp>
        <p:nvSpPr>
          <p:cNvPr id="14" name="Text 12"/>
          <p:cNvSpPr/>
          <p:nvPr/>
        </p:nvSpPr>
        <p:spPr>
          <a:xfrm>
            <a:off x="8869451" y="3246120"/>
            <a:ext cx="2499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869451" y="3794760"/>
            <a:ext cx="249928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gain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start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discussion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9525">
            <a:solidFill>
              <a:srgbClr val="D4DA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SonarQube — A Practical Walkthrough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362895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4C9E"/>
          </a:solidFill>
          <a:ln w="12700">
            <a:solidFill>
              <a:srgbClr val="0F4C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SonarQube?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is a static analysis platform that continuously inspects source code for quality and security problems. It runs as part of the development workflow — in the IDE, in CI, and on a central dashboard — and flags issues long before they reach production.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inspects code at three levels: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— bugs, null-dereference, async mistakes, dead code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— injection, hardcoded secrets, weak crypto, TLS misuse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 — complexity, duplication, code smells, coverage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0" y="1645920"/>
            <a:ext cx="91440" cy="1024128"/>
          </a:xfrm>
          <a:prstGeom prst="rect">
            <a:avLst/>
          </a:prstGeom>
          <a:solidFill>
            <a:srgbClr val="0F4C9E"/>
          </a:solidFill>
          <a:ln w="12700">
            <a:solidFill>
              <a:srgbClr val="0F4C9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0" y="1645920"/>
            <a:ext cx="4937760" cy="1024128"/>
          </a:xfrm>
          <a:prstGeom prst="rect">
            <a:avLst/>
          </a:prstGeom>
          <a:solidFill>
            <a:srgbClr val="F5F7FA"/>
          </a:solidFill>
          <a:ln w="6350">
            <a:solidFill>
              <a:srgbClr val="D4DA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0372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&amp; RELIABILITY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03720" y="212140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errors the compiler accepts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0" y="2852928"/>
            <a:ext cx="91440" cy="1024128"/>
          </a:xfrm>
          <a:prstGeom prst="rect">
            <a:avLst/>
          </a:prstGeom>
          <a:solidFill>
            <a:srgbClr val="0F4C9E"/>
          </a:solidFill>
          <a:ln w="12700">
            <a:solidFill>
              <a:srgbClr val="0F4C9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75120" y="2852928"/>
            <a:ext cx="4937760" cy="1024128"/>
          </a:xfrm>
          <a:prstGeom prst="rect">
            <a:avLst/>
          </a:prstGeom>
          <a:solidFill>
            <a:srgbClr val="F5F7FA"/>
          </a:solidFill>
          <a:ln w="6350">
            <a:solidFill>
              <a:srgbClr val="D4DA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29900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03720" y="332841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including taint analysis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83680" y="4059936"/>
            <a:ext cx="91440" cy="1024128"/>
          </a:xfrm>
          <a:prstGeom prst="rect">
            <a:avLst/>
          </a:prstGeom>
          <a:solidFill>
            <a:srgbClr val="0F4C9E"/>
          </a:solidFill>
          <a:ln w="12700">
            <a:solidFill>
              <a:srgbClr val="0F4C9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0" y="4059936"/>
            <a:ext cx="4937760" cy="1024128"/>
          </a:xfrm>
          <a:prstGeom prst="rect">
            <a:avLst/>
          </a:prstGeom>
          <a:solidFill>
            <a:srgbClr val="F5F7FA"/>
          </a:solidFill>
          <a:ln w="6350">
            <a:solidFill>
              <a:srgbClr val="D4DA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419709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HOTSPOTS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03720" y="453542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code patterns to review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83680" y="5266944"/>
            <a:ext cx="91440" cy="1024128"/>
          </a:xfrm>
          <a:prstGeom prst="rect">
            <a:avLst/>
          </a:prstGeom>
          <a:solidFill>
            <a:srgbClr val="0F4C9E"/>
          </a:solidFill>
          <a:ln w="12700">
            <a:solidFill>
              <a:srgbClr val="0F4C9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0" y="5266944"/>
            <a:ext cx="4937760" cy="1024128"/>
          </a:xfrm>
          <a:prstGeom prst="rect">
            <a:avLst/>
          </a:prstGeom>
          <a:solidFill>
            <a:srgbClr val="F5F7FA"/>
          </a:solidFill>
          <a:ln w="6350">
            <a:solidFill>
              <a:srgbClr val="D4DA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540410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SMELLS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03720" y="574243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 debt and complexity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9525">
            <a:solidFill>
              <a:srgbClr val="D4DA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SonarQube — A Practical Walkthrough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362895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4C9E"/>
          </a:solidFill>
          <a:ln w="12700">
            <a:solidFill>
              <a:srgbClr val="0F4C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Compilers and code reviews are necessary but not sufficient. These are the gaps SonarQube closes: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76218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A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03120"/>
            <a:ext cx="3576218" cy="73152"/>
          </a:xfrm>
          <a:prstGeom prst="rect">
            <a:avLst/>
          </a:prstGeom>
          <a:solidFill>
            <a:srgbClr val="0F4C9E"/>
          </a:solidFill>
          <a:ln w="12700">
            <a:solidFill>
              <a:srgbClr val="0F4C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3172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vulnerabilities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31190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SQL, XSS, command injection through concatenated strings — found by inter-procedural taint analysis.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07738" y="2103120"/>
            <a:ext cx="3576218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A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07738" y="2103120"/>
            <a:ext cx="3576218" cy="73152"/>
          </a:xfrm>
          <a:prstGeom prst="rect">
            <a:avLst/>
          </a:prstGeom>
          <a:solidFill>
            <a:srgbClr val="0F4C9E"/>
          </a:solidFill>
          <a:ln w="12700">
            <a:solidFill>
              <a:srgbClr val="0F4C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82058" y="233172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secrets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82058" y="2834640"/>
            <a:ext cx="31190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keys, JWT keys, DB passwords committed to the repository — caught by 355 secret rules.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66837" y="2103120"/>
            <a:ext cx="3576218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A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66837" y="2103120"/>
            <a:ext cx="3576218" cy="73152"/>
          </a:xfrm>
          <a:prstGeom prst="rect">
            <a:avLst/>
          </a:prstGeom>
          <a:solidFill>
            <a:srgbClr val="0F4C9E"/>
          </a:solidFill>
          <a:ln w="12700">
            <a:solidFill>
              <a:srgbClr val="0F4C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1157" y="233172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cryptography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41157" y="2834640"/>
            <a:ext cx="31190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/ SHA-1, TLS certificate bypass, insecure random — flagged as Security Hotspots with reviewer workflow.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3576218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A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206240"/>
            <a:ext cx="3576218" cy="73152"/>
          </a:xfrm>
          <a:prstGeom prst="rect">
            <a:avLst/>
          </a:prstGeom>
          <a:solidFill>
            <a:srgbClr val="0F4C9E"/>
          </a:solidFill>
          <a:ln w="12700">
            <a:solidFill>
              <a:srgbClr val="0F4C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43484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drift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4937760"/>
            <a:ext cx="31190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complexity, god-methods, duplication and dead code erode maintainability over time.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07738" y="4206240"/>
            <a:ext cx="3576218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A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07738" y="4206240"/>
            <a:ext cx="3576218" cy="73152"/>
          </a:xfrm>
          <a:prstGeom prst="rect">
            <a:avLst/>
          </a:prstGeom>
          <a:solidFill>
            <a:srgbClr val="0F4C9E"/>
          </a:solidFill>
          <a:ln w="12700">
            <a:solidFill>
              <a:srgbClr val="0F4C9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82058" y="443484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regression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82058" y="4937760"/>
            <a:ext cx="31190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 silently drops without a gate condition on new code.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066837" y="4206240"/>
            <a:ext cx="3576218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A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66837" y="4206240"/>
            <a:ext cx="3576218" cy="73152"/>
          </a:xfrm>
          <a:prstGeom prst="rect">
            <a:avLst/>
          </a:prstGeom>
          <a:solidFill>
            <a:srgbClr val="0F4C9E"/>
          </a:solidFill>
          <a:ln w="12700">
            <a:solidFill>
              <a:srgbClr val="0F4C9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41157" y="443484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slips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41157" y="4937760"/>
            <a:ext cx="31190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void, floating-point equality, potential null dereference — real bugs the compiler accepts.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9525">
            <a:solidFill>
              <a:srgbClr val="D4DA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SonarQube — A Practical Walkthrough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362895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4C9E"/>
          </a:solidFill>
          <a:ln w="12700">
            <a:solidFill>
              <a:srgbClr val="0F4C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points of enforcement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rule set is applied at three stages — each catches issues before the next one has to.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00888" y="2377440"/>
            <a:ext cx="329184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4C9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0888" y="2377440"/>
            <a:ext cx="3291840" cy="640080"/>
          </a:xfrm>
          <a:prstGeom prst="rect">
            <a:avLst/>
          </a:prstGeom>
          <a:solidFill>
            <a:srgbClr val="0F4C9E"/>
          </a:solidFill>
          <a:ln w="12700">
            <a:solidFill>
              <a:srgbClr val="0F4C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5208" y="2542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LEFT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61208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75208" y="3200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75208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for VS Code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75208" y="41605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Mode syncs the server rule set and findings locally. Issues appear inline while you type — before commit.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038448" y="3749040"/>
            <a:ext cx="365760" cy="0"/>
          </a:xfrm>
          <a:prstGeom prst="line">
            <a:avLst/>
          </a:prstGeom>
          <a:noFill/>
          <a:ln w="25400">
            <a:solidFill>
              <a:srgbClr val="0F4C9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449928" y="2377440"/>
            <a:ext cx="329184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4C9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49928" y="2377440"/>
            <a:ext cx="3291840" cy="640080"/>
          </a:xfrm>
          <a:prstGeom prst="rect">
            <a:avLst/>
          </a:prstGeom>
          <a:solidFill>
            <a:srgbClr val="0F4C9E"/>
          </a:solidFill>
          <a:ln w="12700">
            <a:solidFill>
              <a:srgbClr val="0F4C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4248" y="2542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10248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24248" y="3200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/ PR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24248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+ PR check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24248" y="41605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pull request is scanned. Inline annotations on the diff. A failing Quality Gate blocks the merge.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87488" y="3749040"/>
            <a:ext cx="365760" cy="0"/>
          </a:xfrm>
          <a:prstGeom prst="line">
            <a:avLst/>
          </a:prstGeom>
          <a:noFill/>
          <a:ln w="25400">
            <a:solidFill>
              <a:srgbClr val="0F4C9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198968" y="2377440"/>
            <a:ext cx="329184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4C9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98968" y="2377440"/>
            <a:ext cx="3291840" cy="640080"/>
          </a:xfrm>
          <a:prstGeom prst="rect">
            <a:avLst/>
          </a:prstGeom>
          <a:solidFill>
            <a:srgbClr val="0F4C9E"/>
          </a:solidFill>
          <a:ln w="12700">
            <a:solidFill>
              <a:srgbClr val="0F4C9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73288" y="2542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759288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8473288" y="3200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473288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Cloud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73288" y="41605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view for leads and architects — ratings, trends, hotspots, coverage, and per-folder attribution.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5486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rule set · Clean-as-You-Code policy · Same Quality Gate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9525">
            <a:solidFill>
              <a:srgbClr val="D4DA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SonarQube — A Practical Walkthrough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362895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9E"/>
          </a:solidFill>
          <a:ln w="12700">
            <a:solidFill>
              <a:srgbClr val="0F4C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743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31546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731520" y="4343400"/>
            <a:ext cx="73152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Sonar actually shows us — on a clean main branch, on a bad PR, and in the editor.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4C9E"/>
          </a:solidFill>
          <a:ln w="12700">
            <a:solidFill>
              <a:srgbClr val="0F4C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a clean project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Overview: the single pane that answers "what is the state of this code?"</a:t>
            </a:r>
            <a:endParaRPr lang="en-US" sz="1500" dirty="0"/>
          </a:p>
        </p:txBody>
      </p:sp>
      <p:pic>
        <p:nvPicPr>
          <p:cNvPr id="5" name="Image 0" descr="/sessions/dazzling-compassionate-thompson/mnt/sonarqube-poc/docs/screenshots/02-overview-main-pass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197769"/>
            <a:ext cx="8046720" cy="355974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197769"/>
            <a:ext cx="8046720" cy="3559741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4DAE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69680" y="1920240"/>
            <a:ext cx="2834640" cy="914400"/>
          </a:xfrm>
          <a:prstGeom prst="rect">
            <a:avLst/>
          </a:prstGeom>
          <a:solidFill>
            <a:srgbClr val="F5F7FA"/>
          </a:solidFill>
          <a:ln w="6350">
            <a:solidFill>
              <a:srgbClr val="D4DA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052560" y="20299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052560" y="23042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8869680" y="2907792"/>
            <a:ext cx="2834640" cy="1051560"/>
          </a:xfrm>
          <a:prstGeom prst="rect">
            <a:avLst/>
          </a:prstGeom>
          <a:solidFill>
            <a:srgbClr val="F5F7FA"/>
          </a:solidFill>
          <a:ln w="6350">
            <a:solidFill>
              <a:srgbClr val="D4DAE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052560" y="3017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ISSUES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052560" y="3291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9052560" y="371246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medium smells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869680" y="4032504"/>
            <a:ext cx="2834640" cy="914400"/>
          </a:xfrm>
          <a:prstGeom prst="rect">
            <a:avLst/>
          </a:prstGeom>
          <a:solidFill>
            <a:srgbClr val="F5F7FA"/>
          </a:solidFill>
          <a:ln w="6350">
            <a:solidFill>
              <a:srgbClr val="D4DAE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52560" y="41422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9052560" y="44165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42.4%</a:t>
            </a:r>
            <a:endParaRPr lang="en-US" sz="2600" dirty="0"/>
          </a:p>
        </p:txBody>
      </p:sp>
      <p:sp>
        <p:nvSpPr>
          <p:cNvPr id="17" name="Shape 14"/>
          <p:cNvSpPr/>
          <p:nvPr/>
        </p:nvSpPr>
        <p:spPr>
          <a:xfrm>
            <a:off x="8869680" y="5020056"/>
            <a:ext cx="2834640" cy="914400"/>
          </a:xfrm>
          <a:prstGeom prst="rect">
            <a:avLst/>
          </a:prstGeom>
          <a:solidFill>
            <a:srgbClr val="E6F4EA"/>
          </a:solidFill>
          <a:ln w="6350">
            <a:solidFill>
              <a:srgbClr val="D4DAE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052560" y="51297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F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052560" y="540410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2600" dirty="0"/>
          </a:p>
        </p:txBody>
      </p:sp>
      <p:sp>
        <p:nvSpPr>
          <p:cNvPr id="20" name="Shape 17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9525">
            <a:solidFill>
              <a:srgbClr val="D4DAE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SonarQube — A Practical Walkthrough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362895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4C9E"/>
          </a:solidFill>
          <a:ln w="12700">
            <a:solidFill>
              <a:srgbClr val="0F4C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Per-domain ratings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 is scored A through E across four domains. A rating of A means no critical issue; E means at least one.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0175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4DA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14600" y="2468880"/>
            <a:ext cx="822960" cy="822960"/>
          </a:xfrm>
          <a:prstGeom prst="rect">
            <a:avLst/>
          </a:prstGeom>
          <a:solidFill>
            <a:srgbClr val="1F7A3A"/>
          </a:solidFill>
          <a:ln w="12700">
            <a:solidFill>
              <a:srgbClr val="1F7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14600" y="2468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issues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794760" y="2103120"/>
            <a:ext cx="30175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4DA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0" y="2468880"/>
            <a:ext cx="822960" cy="822960"/>
          </a:xfrm>
          <a:prstGeom prst="rect">
            <a:avLst/>
          </a:prstGeom>
          <a:solidFill>
            <a:srgbClr val="1F7A3A"/>
          </a:solidFill>
          <a:ln w="12700">
            <a:solidFill>
              <a:srgbClr val="1F7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2468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069080" y="2423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069080" y="2971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medium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30175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4DA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14600" y="4434840"/>
            <a:ext cx="822960" cy="822960"/>
          </a:xfrm>
          <a:prstGeom prst="rect">
            <a:avLst/>
          </a:prstGeom>
          <a:solidFill>
            <a:srgbClr val="1F7A3A"/>
          </a:solidFill>
          <a:ln w="12700">
            <a:solidFill>
              <a:srgbClr val="1F7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4434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22960" y="4389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4937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medium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794760" y="4069080"/>
            <a:ext cx="30175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4DA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60720" y="4434840"/>
            <a:ext cx="822960" cy="822960"/>
          </a:xfrm>
          <a:prstGeom prst="rect">
            <a:avLst/>
          </a:prstGeom>
          <a:solidFill>
            <a:srgbClr val="1F7A3A"/>
          </a:solidFill>
          <a:ln w="12700">
            <a:solidFill>
              <a:srgbClr val="1F7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4434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4069080" y="4389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Hotspots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069080" y="4937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hotspots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766560" y="2103120"/>
            <a:ext cx="4876495" cy="3703320"/>
          </a:xfrm>
          <a:prstGeom prst="rect">
            <a:avLst/>
          </a:prstGeom>
          <a:solidFill>
            <a:srgbClr val="E6EEF9"/>
          </a:solidFill>
          <a:ln w="12700">
            <a:solidFill>
              <a:srgbClr val="E6EEF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0" y="2103120"/>
            <a:ext cx="109728" cy="3703320"/>
          </a:xfrm>
          <a:prstGeom prst="rect">
            <a:avLst/>
          </a:prstGeom>
          <a:solidFill>
            <a:srgbClr val="0F4C9E"/>
          </a:solidFill>
          <a:ln w="12700">
            <a:solidFill>
              <a:srgbClr val="0F4C9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86600" y="2331720"/>
            <a:ext cx="4373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F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THE RATINGS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86600" y="2743200"/>
            <a:ext cx="4373575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clean — no critical or high-severity issues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at least one medium-severity issue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B07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at least one high-severity issue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B22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multiple high-severity issues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B22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at least one critical-severity issue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roll up to a single Quality Gate result — the pass/fail value used by the merge check.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9525">
            <a:solidFill>
              <a:srgbClr val="D4DA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SonarQube — A Practical Walkthrough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362895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4C9E"/>
          </a:solidFill>
          <a:ln w="12700">
            <a:solidFill>
              <a:srgbClr val="0F4C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PR breaks the rules, the merge is blocked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required status check from SonarQube Cloud fails and the merge button is disabled until it's fixed.</a:t>
            </a:r>
            <a:endParaRPr lang="en-US" sz="1500" dirty="0"/>
          </a:p>
        </p:txBody>
      </p:sp>
      <p:pic>
        <p:nvPicPr>
          <p:cNvPr id="5" name="Image 0" descr="/sessions/dazzling-compassionate-thompson/mnt/sonarqube-poc/docs/screenshots/08-pr-checks-fai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469" y="1920240"/>
            <a:ext cx="6530741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69469" y="1920240"/>
            <a:ext cx="6530741" cy="41148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4DAE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0" y="1920240"/>
            <a:ext cx="2956255" cy="548640"/>
          </a:xfrm>
          <a:prstGeom prst="rect">
            <a:avLst/>
          </a:prstGeom>
          <a:solidFill>
            <a:srgbClr val="FCECEE"/>
          </a:solidFill>
          <a:ln w="12700">
            <a:solidFill>
              <a:srgbClr val="FCEC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0" y="2029968"/>
            <a:ext cx="2590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22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GATE: FAILED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869680" y="2267712"/>
            <a:ext cx="25904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22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failed conditions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686800" y="2697480"/>
            <a:ext cx="2956255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A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0" y="2697480"/>
            <a:ext cx="73152" cy="54864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15400" y="2697480"/>
            <a:ext cx="2636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Security Hotspots on new code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686800" y="3337560"/>
            <a:ext cx="2956255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A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686800" y="3337560"/>
            <a:ext cx="73152" cy="54864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915400" y="3337560"/>
            <a:ext cx="2636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coverage on 92 new lines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686800" y="3977640"/>
            <a:ext cx="2956255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AE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86800" y="3977640"/>
            <a:ext cx="73152" cy="54864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915400" y="3977640"/>
            <a:ext cx="2636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rating E on new code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686800" y="4617720"/>
            <a:ext cx="2956255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AE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686800" y="4617720"/>
            <a:ext cx="73152" cy="54864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915400" y="4617720"/>
            <a:ext cx="2636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rating C on new code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5943600"/>
            <a:ext cx="11094415" cy="411480"/>
          </a:xfrm>
          <a:prstGeom prst="rect">
            <a:avLst/>
          </a:prstGeom>
          <a:solidFill>
            <a:srgbClr val="E6EEF9"/>
          </a:solidFill>
          <a:ln w="12700">
            <a:solidFill>
              <a:srgbClr val="E6EEF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" y="594360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new issues flagged — including 2 taint-analyzed vulnerabilities that only SAST can find.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9525">
            <a:solidFill>
              <a:srgbClr val="D4DAE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SonarQube — A Practical Walkthrough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362895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4C9E"/>
          </a:solidFill>
          <a:ln w="12700">
            <a:solidFill>
              <a:srgbClr val="0F4C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review — findings posted on the diff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reviewer never leaves GitHub. Sonar posts each finding as an inline comment on the exact line.</a:t>
            </a:r>
            <a:endParaRPr lang="en-US" sz="1500" dirty="0"/>
          </a:p>
        </p:txBody>
      </p:sp>
      <p:pic>
        <p:nvPicPr>
          <p:cNvPr id="5" name="Image 0" descr="/sessions/dazzling-compassionate-thompson/mnt/sonarqube-poc/docs/screenshots/09-pr-inline-annot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0526" y="1920240"/>
            <a:ext cx="6945827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90526" y="1920240"/>
            <a:ext cx="6945827" cy="41148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4DA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0" y="1920240"/>
            <a:ext cx="2499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REVIEWER SEES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0" y="2286000"/>
            <a:ext cx="249905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A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UsersController.cs:32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A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weak crypto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LegacyService.cs:14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A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void misuse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LegacyService.cs:81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A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“make static” suggestion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A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“return Task instead”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9525">
            <a:solidFill>
              <a:srgbClr val="D4DA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SonarQube — A Practical Walkthrough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362895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4C9E"/>
          </a:solidFill>
          <a:ln w="12700">
            <a:solidFill>
              <a:srgbClr val="0F4C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Taint analysis — the SAST differentiator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data from an untrusted source all the way to a dangerous sink — the piece compilers and unit tests cannot do.</a:t>
            </a:r>
            <a:endParaRPr lang="en-US" sz="1500" dirty="0"/>
          </a:p>
        </p:txBody>
      </p:sp>
      <p:pic>
        <p:nvPicPr>
          <p:cNvPr id="5" name="Image 0" descr="/sessions/dazzling-compassionate-thompson/mnt/sonarqube-poc/docs/screenshots/12-issue-detail-sql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218" y="1920240"/>
            <a:ext cx="7209244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0218" y="1920240"/>
            <a:ext cx="7209244" cy="41148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4DAE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595360" y="1920240"/>
            <a:ext cx="3047695" cy="4114800"/>
          </a:xfrm>
          <a:prstGeom prst="rect">
            <a:avLst/>
          </a:prstGeom>
          <a:solidFill>
            <a:srgbClr val="F5F7FA"/>
          </a:solidFill>
          <a:ln w="6350">
            <a:solidFill>
              <a:srgbClr val="D4DAE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595360" y="1920240"/>
            <a:ext cx="109728" cy="4114800"/>
          </a:xfrm>
          <a:prstGeom prst="rect">
            <a:avLst/>
          </a:prstGeom>
          <a:solidFill>
            <a:srgbClr val="0F4C9E"/>
          </a:solidFill>
          <a:ln w="12700">
            <a:solidFill>
              <a:srgbClr val="0F4C9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69680" y="2103120"/>
            <a:ext cx="2681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915400" y="2606040"/>
            <a:ext cx="228600" cy="228600"/>
          </a:xfrm>
          <a:prstGeom prst="ellipse">
            <a:avLst/>
          </a:prstGeom>
          <a:solidFill>
            <a:srgbClr val="0F4C9E"/>
          </a:solidFill>
          <a:ln w="12700">
            <a:solidFill>
              <a:srgbClr val="0F4C9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281160" y="2514600"/>
            <a:ext cx="2224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281160" y="2770632"/>
            <a:ext cx="2224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 parameter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025128" y="2880360"/>
            <a:ext cx="0" cy="365760"/>
          </a:xfrm>
          <a:prstGeom prst="line">
            <a:avLst/>
          </a:prstGeom>
          <a:noFill/>
          <a:ln w="19050">
            <a:solidFill>
              <a:srgbClr val="0F4C9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915400" y="3337560"/>
            <a:ext cx="228600" cy="228600"/>
          </a:xfrm>
          <a:prstGeom prst="ellipse">
            <a:avLst/>
          </a:prstGeom>
          <a:solidFill>
            <a:srgbClr val="0F4C9E"/>
          </a:solidFill>
          <a:ln w="12700">
            <a:solidFill>
              <a:srgbClr val="0F4C9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281160" y="3246120"/>
            <a:ext cx="2224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PROPAGATES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9281160" y="3502152"/>
            <a:ext cx="2224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into service call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025128" y="3611880"/>
            <a:ext cx="0" cy="365760"/>
          </a:xfrm>
          <a:prstGeom prst="line">
            <a:avLst/>
          </a:prstGeom>
          <a:noFill/>
          <a:ln w="19050">
            <a:solidFill>
              <a:srgbClr val="0F4C9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915400" y="4069080"/>
            <a:ext cx="228600" cy="228600"/>
          </a:xfrm>
          <a:prstGeom prst="ellipse">
            <a:avLst/>
          </a:prstGeom>
          <a:solidFill>
            <a:srgbClr val="0F4C9E"/>
          </a:solidFill>
          <a:ln w="12700">
            <a:solidFill>
              <a:srgbClr val="0F4C9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281160" y="3977640"/>
            <a:ext cx="2224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PROPAGATES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281160" y="4233672"/>
            <a:ext cx="2224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Concatenated into SQL string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9025128" y="4343400"/>
            <a:ext cx="0" cy="365760"/>
          </a:xfrm>
          <a:prstGeom prst="line">
            <a:avLst/>
          </a:prstGeom>
          <a:noFill/>
          <a:ln w="19050">
            <a:solidFill>
              <a:srgbClr val="0F4C9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915400" y="4800600"/>
            <a:ext cx="228600" cy="228600"/>
          </a:xfrm>
          <a:prstGeom prst="ellipse">
            <a:avLst/>
          </a:prstGeom>
          <a:solidFill>
            <a:srgbClr val="0F4C9E"/>
          </a:solidFill>
          <a:ln w="12700">
            <a:solidFill>
              <a:srgbClr val="0F4C9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81160" y="4709160"/>
            <a:ext cx="2224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9281160" y="4965192"/>
            <a:ext cx="2224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as raw query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9525">
            <a:solidFill>
              <a:srgbClr val="D4DAE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SonarQube — A Practical Walkthrough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362895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4C9E"/>
          </a:solidFill>
          <a:ln w="12700">
            <a:solidFill>
              <a:srgbClr val="0F4C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Shift-left — the same findings inside VS Code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Mode binds the editor to the server rule set. 18 findings sync locally — including server-side taint findings.</a:t>
            </a:r>
            <a:endParaRPr lang="en-US" sz="1500" dirty="0"/>
          </a:p>
        </p:txBody>
      </p:sp>
      <p:pic>
        <p:nvPicPr>
          <p:cNvPr id="5" name="Image 0" descr="/sessions/dazzling-compassionate-thompson/mnt/sonarqube-poc/docs/screenshots/16-ide-findings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8721" y="1920240"/>
            <a:ext cx="6386559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78721" y="1920240"/>
            <a:ext cx="6386559" cy="41148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4DAE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69680" y="1965960"/>
            <a:ext cx="201168" cy="201168"/>
          </a:xfrm>
          <a:prstGeom prst="ellipse">
            <a:avLst/>
          </a:prstGeom>
          <a:solidFill>
            <a:srgbClr val="0F4C9E"/>
          </a:solidFill>
          <a:ln w="12700">
            <a:solidFill>
              <a:srgbClr val="0F4C9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89720" y="1920240"/>
            <a:ext cx="2453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while typing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89720" y="2194560"/>
            <a:ext cx="2453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appear as inline squigglies — no commit required.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869680" y="3017520"/>
            <a:ext cx="201168" cy="201168"/>
          </a:xfrm>
          <a:prstGeom prst="ellipse">
            <a:avLst/>
          </a:prstGeom>
          <a:solidFill>
            <a:srgbClr val="0F4C9E"/>
          </a:solidFill>
          <a:ln w="12700">
            <a:solidFill>
              <a:srgbClr val="0F4C9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89720" y="2971800"/>
            <a:ext cx="2453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rules locally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189720" y="3246120"/>
            <a:ext cx="2453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Mode uses the same profile as CI, not a local subset.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869680" y="4069080"/>
            <a:ext cx="201168" cy="201168"/>
          </a:xfrm>
          <a:prstGeom prst="ellipse">
            <a:avLst/>
          </a:prstGeom>
          <a:solidFill>
            <a:srgbClr val="0F4C9E"/>
          </a:solidFill>
          <a:ln w="12700">
            <a:solidFill>
              <a:srgbClr val="0F4C9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89720" y="4023360"/>
            <a:ext cx="2453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Taint findings synced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189720" y="4297680"/>
            <a:ext cx="2453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Whole-program analysis that only the server can compute is mirrored into the panel.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869680" y="5120640"/>
            <a:ext cx="201168" cy="201168"/>
          </a:xfrm>
          <a:prstGeom prst="ellipse">
            <a:avLst/>
          </a:prstGeom>
          <a:solidFill>
            <a:srgbClr val="0F4C9E"/>
          </a:solidFill>
          <a:ln w="12700">
            <a:solidFill>
              <a:srgbClr val="0F4C9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89720" y="5074920"/>
            <a:ext cx="2453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analyze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189720" y="5349240"/>
            <a:ext cx="2453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Re-scan any file from the command palette.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9525">
            <a:solidFill>
              <a:srgbClr val="D4DAE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SonarQube — A Practical Walkthrough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362895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9E"/>
          </a:solidFill>
          <a:ln w="12700">
            <a:solidFill>
              <a:srgbClr val="0F4C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743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31546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governed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731520" y="4434840"/>
            <a:ext cx="73152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617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levers an architect controls — rules, gates, and profiles.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4C9E"/>
          </a:solidFill>
          <a:ln w="12700">
            <a:solidFill>
              <a:srgbClr val="0F4C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profiles, and the Quality Gate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configuration surfaces — each solves a different governance question.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76218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4DA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03120"/>
            <a:ext cx="3576218" cy="73152"/>
          </a:xfrm>
          <a:prstGeom prst="rect">
            <a:avLst/>
          </a:prstGeom>
          <a:solidFill>
            <a:srgbClr val="0F4C9E"/>
          </a:solidFill>
          <a:ln w="12700">
            <a:solidFill>
              <a:srgbClr val="0F4C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8600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F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Profiles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30275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rules are active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30275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set of rules per language. The built-in Sonar way profile enables 500+ C# rules out of the box. Clone and customise in paid tiers.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5120640"/>
            <a:ext cx="3027578" cy="0"/>
          </a:xfrm>
          <a:prstGeom prst="line">
            <a:avLst/>
          </a:prstGeom>
          <a:noFill/>
          <a:ln w="9525">
            <a:solidFill>
              <a:srgbClr val="D4DA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257800"/>
            <a:ext cx="3027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22960" y="5806440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rules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07738" y="2103120"/>
            <a:ext cx="3576218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4DA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7738" y="2103120"/>
            <a:ext cx="3576218" cy="73152"/>
          </a:xfrm>
          <a:prstGeom prst="rect">
            <a:avLst/>
          </a:prstGeom>
          <a:solidFill>
            <a:srgbClr val="0F4C9E"/>
          </a:solidFill>
          <a:ln w="12700">
            <a:solidFill>
              <a:srgbClr val="0F4C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82058" y="228600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F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82058" y="260604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82058" y="3063240"/>
            <a:ext cx="30275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 conditions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82058" y="3474720"/>
            <a:ext cx="30275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threshold conditions — applied only to new code under the Clean-as-You-Code model. Built-in gate enforces no new bugs, no new vulnerabilities, ≥80% coverage, ≤3% duplication.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82058" y="5120640"/>
            <a:ext cx="3027578" cy="0"/>
          </a:xfrm>
          <a:prstGeom prst="line">
            <a:avLst/>
          </a:prstGeom>
          <a:noFill/>
          <a:ln w="9525">
            <a:solidFill>
              <a:srgbClr val="D4DA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82058" y="5257800"/>
            <a:ext cx="3027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582058" y="5806440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66837" y="2103120"/>
            <a:ext cx="3576218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4DA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66837" y="2103120"/>
            <a:ext cx="3576218" cy="73152"/>
          </a:xfrm>
          <a:prstGeom prst="rect">
            <a:avLst/>
          </a:prstGeom>
          <a:solidFill>
            <a:srgbClr val="0F4C9E"/>
          </a:solidFill>
          <a:ln w="12700">
            <a:solidFill>
              <a:srgbClr val="0F4C9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41157" y="228600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F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341157" y="260604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Catalog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341157" y="3063240"/>
            <a:ext cx="30275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platform can detect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41157" y="3474720"/>
            <a:ext cx="30275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7,616 rules across 30+ languages — tagged to OWASP Top 10, CWE, PCI-DSS, STIG. The compliance evidence a regulator will ask for.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341157" y="5120640"/>
            <a:ext cx="3027578" cy="0"/>
          </a:xfrm>
          <a:prstGeom prst="line">
            <a:avLst/>
          </a:prstGeom>
          <a:noFill/>
          <a:ln w="9525">
            <a:solidFill>
              <a:srgbClr val="D4DA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41157" y="5257800"/>
            <a:ext cx="3027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7,616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8341157" y="5806440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· 30+ langs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9525">
            <a:solidFill>
              <a:srgbClr val="D4DA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SonarQube — A Practical Walkthrough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362895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4C9E"/>
          </a:solidFill>
          <a:ln w="12700">
            <a:solidFill>
              <a:srgbClr val="0F4C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Clean-as-You-Code — gate on new code only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have to fix the entire legacy codebase to adopt Sonar. The gate applies only to lines you changed.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4937760" cy="3657600"/>
          </a:xfrm>
          <a:prstGeom prst="rect">
            <a:avLst/>
          </a:prstGeom>
          <a:solidFill>
            <a:srgbClr val="F5F7FA"/>
          </a:solidFill>
          <a:ln w="9525">
            <a:solidFill>
              <a:srgbClr val="D4DA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468880"/>
            <a:ext cx="4389120" cy="2103120"/>
          </a:xfrm>
          <a:prstGeom prst="rect">
            <a:avLst/>
          </a:prstGeom>
          <a:solidFill>
            <a:srgbClr val="DEE4EC"/>
          </a:solidFill>
          <a:ln w="12700">
            <a:solidFill>
              <a:srgbClr val="DE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606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CODE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8803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informationally · not gated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324612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coverage and ratings stay visible so you can track the slope of improvement, but they do not block merges.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709160"/>
            <a:ext cx="4389120" cy="868680"/>
          </a:xfrm>
          <a:prstGeom prst="rect">
            <a:avLst/>
          </a:prstGeom>
          <a:solidFill>
            <a:srgbClr val="0F4C9E"/>
          </a:solidFill>
          <a:ln w="12700">
            <a:solidFill>
              <a:srgbClr val="0F4C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8006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50749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— must meet Quality Gate conditions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52160" y="2103120"/>
            <a:ext cx="5790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GATE CONDITIONS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52160" y="2560320"/>
            <a:ext cx="5790895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4DA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2560320"/>
            <a:ext cx="41449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on new code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25735" y="25603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852160" y="3063240"/>
            <a:ext cx="579089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4DA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3063240"/>
            <a:ext cx="41449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on new code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225735" y="30632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852160" y="3566160"/>
            <a:ext cx="5790895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4DA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3566160"/>
            <a:ext cx="41449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 on new code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225735" y="35661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852160" y="4069080"/>
            <a:ext cx="579089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4DA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4069080"/>
            <a:ext cx="41449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Hotspots reviewed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225735" y="40690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852160" y="4572000"/>
            <a:ext cx="5790895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4DA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4572000"/>
            <a:ext cx="41449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on new code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225735" y="45720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80%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852160" y="5074920"/>
            <a:ext cx="579089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4DA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80760" y="5074920"/>
            <a:ext cx="41449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 on new code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225735" y="50749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3%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9525">
            <a:solidFill>
              <a:srgbClr val="D4DA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SonarQube — A Practical Walkthrough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362895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4C9E"/>
          </a:solidFill>
          <a:ln w="12700">
            <a:solidFill>
              <a:srgbClr val="0F4C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10048" cy="2103120"/>
          </a:xfrm>
          <a:prstGeom prst="rect">
            <a:avLst/>
          </a:prstGeom>
          <a:solidFill>
            <a:srgbClr val="F5F7FA"/>
          </a:solidFill>
          <a:ln w="6350">
            <a:solidFill>
              <a:srgbClr val="D4DA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91440" cy="2103120"/>
          </a:xfrm>
          <a:prstGeom prst="rect">
            <a:avLst/>
          </a:prstGeom>
          <a:solidFill>
            <a:srgbClr val="0F4C9E"/>
          </a:solidFill>
          <a:ln w="12700">
            <a:solidFill>
              <a:srgbClr val="0F4C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20240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F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what reviewers miss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486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injection, hardcoded secrets, weak crypto, async misuse, coverage regression — evidence-backed on the walkthrough.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33008" y="1645920"/>
            <a:ext cx="5410048" cy="2103120"/>
          </a:xfrm>
          <a:prstGeom prst="rect">
            <a:avLst/>
          </a:prstGeom>
          <a:solidFill>
            <a:srgbClr val="F5F7FA"/>
          </a:solidFill>
          <a:ln w="6350">
            <a:solidFill>
              <a:srgbClr val="D4DA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33008" y="1645920"/>
            <a:ext cx="91440" cy="2103120"/>
          </a:xfrm>
          <a:prstGeom prst="rect">
            <a:avLst/>
          </a:prstGeom>
          <a:solidFill>
            <a:srgbClr val="0F4C9E"/>
          </a:solidFill>
          <a:ln w="12700">
            <a:solidFill>
              <a:srgbClr val="0F4C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3048" y="1920240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F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53048" y="228600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at the right moment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53048" y="2834640"/>
            <a:ext cx="486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the IDE, posted inline on the PR, blocking at the merge gate. No pre-commit hooks, no friction.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410048" cy="2103120"/>
          </a:xfrm>
          <a:prstGeom prst="rect">
            <a:avLst/>
          </a:prstGeom>
          <a:solidFill>
            <a:srgbClr val="F5F7FA"/>
          </a:solidFill>
          <a:ln w="6350">
            <a:solidFill>
              <a:srgbClr val="D4DA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023360"/>
            <a:ext cx="91440" cy="2103120"/>
          </a:xfrm>
          <a:prstGeom prst="rect">
            <a:avLst/>
          </a:prstGeom>
          <a:solidFill>
            <a:srgbClr val="0F4C9E"/>
          </a:solidFill>
          <a:ln w="12700">
            <a:solidFill>
              <a:srgbClr val="0F4C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297680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F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466344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Adopts without a legacy cleanup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68680" y="5212080"/>
            <a:ext cx="486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Clean-as-You-Code gates on new code only — legacy ratings stay informational until refactored.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33008" y="4023360"/>
            <a:ext cx="5410048" cy="2103120"/>
          </a:xfrm>
          <a:prstGeom prst="rect">
            <a:avLst/>
          </a:prstGeom>
          <a:solidFill>
            <a:srgbClr val="F5F7FA"/>
          </a:solidFill>
          <a:ln w="6350">
            <a:solidFill>
              <a:srgbClr val="D4DA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33008" y="4023360"/>
            <a:ext cx="91440" cy="2103120"/>
          </a:xfrm>
          <a:prstGeom prst="rect">
            <a:avLst/>
          </a:prstGeom>
          <a:solidFill>
            <a:srgbClr val="0F4C9E"/>
          </a:solidFill>
          <a:ln w="12700">
            <a:solidFill>
              <a:srgbClr val="0F4C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53048" y="4297680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F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53048" y="466344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Compliance-ready out of the box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553048" y="5212080"/>
            <a:ext cx="486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tagged to OWASP, CWE, PCI-DSS, STIG — the evidence regulators ask for, without a separate scanner.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172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Questions?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9525">
            <a:solidFill>
              <a:srgbClr val="D4DA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SonarQube — A Practical Walkthrough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362895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 SonarQube - A Practical Walkthrough</dc:title>
  <dc:subject>PptxGenJS Presentation</dc:subject>
  <dc:creator>Subash Krishnan</dc:creator>
  <cp:lastModifiedBy>Subash Krishnan</cp:lastModifiedBy>
  <cp:revision>1</cp:revision>
  <dcterms:created xsi:type="dcterms:W3CDTF">2026-04-20T12:15:48Z</dcterms:created>
  <dcterms:modified xsi:type="dcterms:W3CDTF">2026-04-20T12:15:48Z</dcterms:modified>
</cp:coreProperties>
</file>